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d7fc52d8504428" /><Relationship Type="http://schemas.openxmlformats.org/officeDocument/2006/relationships/extended-properties" Target="/docProps/app.xml" Id="R2b54189b0c064ab4" /><Relationship Type="http://schemas.openxmlformats.org/officeDocument/2006/relationships/officeDocument" Target="/ppt/presentation.xml" Id="R8ac7852ef8444f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161ceb8e814864"/>
  </p:sldMasterIdLst>
  <p:notesMasterIdLst>
    <p:notesMasterId xmlns:r="http://schemas.openxmlformats.org/officeDocument/2006/relationships" r:id="R9fb24c4e3d1e42ac"/>
  </p:notesMasterIdLst>
  <p:sldIdLst>
    <p:sldId xmlns:r="http://schemas.openxmlformats.org/officeDocument/2006/relationships" id="256" r:id="Ra8fc36b37c9948c9"/>
    <p:sldId xmlns:r="http://schemas.openxmlformats.org/officeDocument/2006/relationships" id="257" r:id="R8de3ab60e5d447f7"/>
    <p:sldId xmlns:r="http://schemas.openxmlformats.org/officeDocument/2006/relationships" id="258" r:id="Rdfd1908b40404d2e"/>
    <p:sldId xmlns:r="http://schemas.openxmlformats.org/officeDocument/2006/relationships" id="259" r:id="R52a8d9067251466f"/>
    <p:sldId xmlns:r="http://schemas.openxmlformats.org/officeDocument/2006/relationships" id="260" r:id="R49e41bfe5e384b36"/>
    <p:sldId xmlns:r="http://schemas.openxmlformats.org/officeDocument/2006/relationships" id="261" r:id="Rf44bf0054d5547ea"/>
    <p:sldId xmlns:r="http://schemas.openxmlformats.org/officeDocument/2006/relationships" id="262" r:id="Rcbdf20adfb864e7b"/>
    <p:sldId xmlns:r="http://schemas.openxmlformats.org/officeDocument/2006/relationships" id="263" r:id="Rc80089df14ab4983"/>
    <p:sldId xmlns:r="http://schemas.openxmlformats.org/officeDocument/2006/relationships" id="264" r:id="R0a5748fc57854d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8e8e199be34946" /><Relationship Type="http://schemas.openxmlformats.org/officeDocument/2006/relationships/slideMaster" Target="/ppt/slideMasters/slideMaster1.xml" Id="R89161ceb8e814864" /><Relationship Type="http://schemas.openxmlformats.org/officeDocument/2006/relationships/notesMaster" Target="/ppt/notesMasters/notesMaster1.xml" Id="R9fb24c4e3d1e42ac" /><Relationship Type="http://schemas.openxmlformats.org/officeDocument/2006/relationships/presProps" Target="/ppt/presProps.xml" Id="R0c8921bb79f84d9a" /><Relationship Type="http://schemas.openxmlformats.org/officeDocument/2006/relationships/tableStyles" Target="/ppt/tableStyles.xml" Id="Rdfcbb2af56f74099" /><Relationship Type="http://schemas.openxmlformats.org/officeDocument/2006/relationships/slide" Target="/ppt/slides/slide1.xml" Id="Ra8fc36b37c9948c9" /><Relationship Type="http://schemas.openxmlformats.org/officeDocument/2006/relationships/slide" Target="/ppt/slides/slide2.xml" Id="R8de3ab60e5d447f7" /><Relationship Type="http://schemas.openxmlformats.org/officeDocument/2006/relationships/slide" Target="/ppt/slides/slide3.xml" Id="Rdfd1908b40404d2e" /><Relationship Type="http://schemas.openxmlformats.org/officeDocument/2006/relationships/slide" Target="/ppt/slides/slide4.xml" Id="R52a8d9067251466f" /><Relationship Type="http://schemas.openxmlformats.org/officeDocument/2006/relationships/slide" Target="/ppt/slides/slide5.xml" Id="R49e41bfe5e384b36" /><Relationship Type="http://schemas.openxmlformats.org/officeDocument/2006/relationships/slide" Target="/ppt/slides/slide6.xml" Id="Rf44bf0054d5547ea" /><Relationship Type="http://schemas.openxmlformats.org/officeDocument/2006/relationships/slide" Target="/ppt/slides/slide7.xml" Id="Rcbdf20adfb864e7b" /><Relationship Type="http://schemas.openxmlformats.org/officeDocument/2006/relationships/slide" Target="/ppt/slides/slide8.xml" Id="Rc80089df14ab4983" /><Relationship Type="http://schemas.openxmlformats.org/officeDocument/2006/relationships/slide" Target="/ppt/slides/slide9.xml" Id="R0a5748fc57854d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fcfee162ad49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5f2ea876804c4b" /><Relationship Type="http://schemas.openxmlformats.org/officeDocument/2006/relationships/notesMaster" Target="/ppt/notesMasters/notesMaster1.xml" Id="R167235de9b7b47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66fcc2c4f9489a" /><Relationship Type="http://schemas.openxmlformats.org/officeDocument/2006/relationships/notesMaster" Target="/ppt/notesMasters/notesMaster1.xml" Id="Rfc9adeb3d78749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fa1f47aa9d4537" /><Relationship Type="http://schemas.openxmlformats.org/officeDocument/2006/relationships/notesMaster" Target="/ppt/notesMasters/notesMaster1.xml" Id="Red7fcf32eb9b4e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9e08e774394a1c" /><Relationship Type="http://schemas.openxmlformats.org/officeDocument/2006/relationships/notesMaster" Target="/ppt/notesMasters/notesMaster1.xml" Id="R552fb0e96a664b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9d16e33d4849c1" /><Relationship Type="http://schemas.openxmlformats.org/officeDocument/2006/relationships/notesMaster" Target="/ppt/notesMasters/notesMaster1.xml" Id="Ra0ac393a266d4a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e92d38c9fd4753" /><Relationship Type="http://schemas.openxmlformats.org/officeDocument/2006/relationships/notesMaster" Target="/ppt/notesMasters/notesMaster1.xml" Id="Rebbe6cf488534f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83e99f82af4b4c" /><Relationship Type="http://schemas.openxmlformats.org/officeDocument/2006/relationships/notesMaster" Target="/ppt/notesMasters/notesMaster1.xml" Id="R2cde5b70d66849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52c5c08c684e41" /><Relationship Type="http://schemas.openxmlformats.org/officeDocument/2006/relationships/notesMaster" Target="/ppt/notesMasters/notesMaster1.xml" Id="R2fc41bce569b41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4d6d07968c436b" /><Relationship Type="http://schemas.openxmlformats.org/officeDocument/2006/relationships/notesMaster" Target="/ppt/notesMasters/notesMaster1.xml" Id="Rc1aa2ec58eb04d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content: OceanClaw local workspace.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[Video]</a:t>
            </a:r>
          </a:p>
          <a:p xmlns:a="http://schemas.openxmlformats.org/drawingml/2006/main">
            <a:r>
              <a:t>0:00~0:05 제목 화면으로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Architecture image: docs/oceanclaw_architecture.png in OceanClaw workspace.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[Video]</a:t>
            </a:r>
          </a:p>
          <a:p xmlns:a="http://schemas.openxmlformats.org/drawingml/2006/main">
            <a:r>
              <a:t>0:05~0:15 구조 설명 카드.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Command based on OceanClaw scripts/search.py.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[Video]</a:t>
            </a:r>
          </a:p>
          <a:p xmlns:a="http://schemas.openxmlformats.org/drawingml/2006/main">
            <a:r>
              <a:t>0:15~0:45 이 카드 뒤에 실제 터미널 검색 화면을 붙이기.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Example answer/source derived from OceanClaw RAG test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[Video]</a:t>
            </a:r>
          </a:p>
          <a:p xmlns:a="http://schemas.openxmlformats.org/drawingml/2006/main">
            <a:r>
              <a:t>0:45~1:15 ask.py 실행 화면 또는 API 응답 화면을 붙이기.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Wiki behavior based on OceanClaw wiki_log.py and wiki/logs 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[Video]</a:t>
            </a:r>
          </a:p>
          <a:p xmlns:a="http://schemas.openxmlformats.org/drawingml/2006/main">
            <a:r>
              <a:t>1:15~1:30 wiki/logs 폴더와 생성된 Markdown 파일을 보여주기.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Endpoint list based on OceanClaw FastAPI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[Video]</a:t>
            </a:r>
          </a:p>
          <a:p xmlns:a="http://schemas.openxmlformats.org/drawingml/2006/main">
            <a:r>
              <a:t>1:30~1:45 브라우저에서 http://127.0.0.1:8000/docs 화면을 보여주기.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Sensor integration image: docs/future_sensor_integration_compact.png in OceanClaw workspace.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[Video]</a:t>
            </a:r>
          </a:p>
          <a:p xmlns:a="http://schemas.openxmlformats.org/drawingml/2006/main">
            <a:r>
              <a:t>1:45~1:55 Jetson 또는 향후 센서 연동 설명 카드.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feature summary: OceanClaw local workspace.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[Video]</a:t>
            </a:r>
          </a:p>
          <a:p xmlns:a="http://schemas.openxmlformats.org/drawingml/2006/main">
            <a:r>
              <a:t>1:55~2:00 마무리 화면.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Video sequence based on requested 2-minute demo format.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[Video]</a:t>
            </a:r>
          </a:p>
          <a:p xmlns:a="http://schemas.openxmlformats.org/drawingml/2006/main">
            <a:r>
              <a:t>이 슬라이드는 편집 참고용이며 제출 영상에서는 제외 가능.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ac537dd6c449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1b8cfbe6e946d4" /><Relationship Type="http://schemas.openxmlformats.org/officeDocument/2006/relationships/slideLayout" Target="/ppt/slideLayouts/slideLayout1.xml" Id="Re95d4c59fde148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5d4c59fde148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a0d458c36402c" /><Relationship Type="http://schemas.openxmlformats.org/officeDocument/2006/relationships/notesSlide" Target="/ppt/notesSlides/notesSlide1.xml" Id="Rea2f4dd4b81443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68878320a4c4c" /><Relationship Type="http://schemas.openxmlformats.org/officeDocument/2006/relationships/image" Target="/ppt/media/image.png" Id="R0951ebf9611d415e" /><Relationship Type="http://schemas.openxmlformats.org/officeDocument/2006/relationships/notesSlide" Target="/ppt/notesSlides/notesSlide2.xml" Id="R87f562c7e3904e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83d56c01e4215" /><Relationship Type="http://schemas.openxmlformats.org/officeDocument/2006/relationships/notesSlide" Target="/ppt/notesSlides/notesSlide3.xml" Id="Ra5f2bdaeb1c740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b066c581f406a" /><Relationship Type="http://schemas.openxmlformats.org/officeDocument/2006/relationships/notesSlide" Target="/ppt/notesSlides/notesSlide4.xml" Id="R81b9f88b9de741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e1f423fcb486f" /><Relationship Type="http://schemas.openxmlformats.org/officeDocument/2006/relationships/notesSlide" Target="/ppt/notesSlides/notesSlide5.xml" Id="Rb2cb1872d7174e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746e3f45e4e16" /><Relationship Type="http://schemas.openxmlformats.org/officeDocument/2006/relationships/notesSlide" Target="/ppt/notesSlides/notesSlide6.xml" Id="R9d3e63ce701e42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8f10d63ec4453" /><Relationship Type="http://schemas.openxmlformats.org/officeDocument/2006/relationships/image" Target="/ppt/media/image2.png" Id="R85ad91a78c5e46d2" /><Relationship Type="http://schemas.openxmlformats.org/officeDocument/2006/relationships/notesSlide" Target="/ppt/notesSlides/notesSlide7.xml" Id="R877a5ef707f744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80085d58c40f9" /><Relationship Type="http://schemas.openxmlformats.org/officeDocument/2006/relationships/notesSlide" Target="/ppt/notesSlides/notesSlide8.xml" Id="R12ec2a1fd8c246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edfa604ce41ab" /><Relationship Type="http://schemas.openxmlformats.org/officeDocument/2006/relationships/notesSlide" Target="/ppt/notesSlides/notesSlide9.xml" Id="R0da0a867c9c945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roject-name">
            <a:extLst xmlns:a="http://schemas.openxmlformats.org/drawingml/2006/main">
              <a:ext uri="{FF2B5EF4-FFF2-40B4-BE49-F238E27FC236}">
                <a16:creationId xmlns:a16="http://schemas.microsoft.com/office/drawing/2014/main" id="{847DBCD3-AE0E-4DC7-8981-F4FC4BEE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76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000000"/>
                </a:solidFill>
              </a:defRPr>
            </a:pPr>
            <a:r>
              <a:rPr sz="6150" b="1">
                <a:solidFill>
                  <a:srgbClr val="000000"/>
                </a:solidFill>
              </a:rPr>
              <a:t>OceanClaw</a:t>
            </a:r>
          </a:p>
        </p:txBody>
      </p:sp>
      <p:sp>
        <p:nvSpPr>
          <p:cNvPr id="2" name="tagline">
            <a:extLst xmlns:a="http://schemas.openxmlformats.org/drawingml/2006/main">
              <a:ext uri="{FF2B5EF4-FFF2-40B4-BE49-F238E27FC236}">
                <a16:creationId xmlns:a16="http://schemas.microsoft.com/office/drawing/2014/main" id="{926A7FE3-4FFA-46D0-8C55-F7DC5EBD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RAG 기반 선박 정비 AI Agent</a:t>
            </a:r>
          </a:p>
        </p:txBody>
      </p:sp>
      <p:sp>
        <p:nvSpPr>
          <p:cNvPr id="3" name="scope">
            <a:extLst xmlns:a="http://schemas.openxmlformats.org/drawingml/2006/main">
              <a:ext uri="{FF2B5EF4-FFF2-40B4-BE49-F238E27FC236}">
                <a16:creationId xmlns:a16="http://schemas.microsoft.com/office/drawing/2014/main" id="{232AB5FE-7D7F-4374-B20F-251B8A2B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43A46"/>
                </a:solidFill>
              </a:defRPr>
            </a:pPr>
            <a:r>
              <a:rPr sz="1950" b="0">
                <a:solidFill>
                  <a:srgbClr val="343A46"/>
                </a:solidFill>
              </a:rPr>
              <a:t>PDF Manual · Sensor Event · Wiki · Local LLM · FastAPI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7FD40807-E810-45DE-A7B4-825A64D5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742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AE0D5A09-E7C4-4279-B2B4-35494795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선박 정비 자료를 검색하고, 근거가 있는 답변을 제공합니다.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77E62B8D-D47F-40A3-A15E-5330D204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672"/>
                </a:solidFill>
              </a:defRPr>
            </a:pPr>
            <a:r>
              <a:rPr sz="1200" b="0">
                <a:solidFill>
                  <a:srgbClr val="606672"/>
                </a:solidFill>
              </a:rPr>
              <a:t>2분 시연 영상</a:t>
            </a:r>
          </a:p>
        </p:txBody>
      </p:sp>
    </p:spTree>
    <p:extLst>
      <p:ext uri="{BB962C8B-B14F-4D97-AF65-F5344CB8AC3E}">
        <p14:creationId xmlns:p14="http://schemas.microsoft.com/office/powerpoint/2010/main" val="2029836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53197F63-F90A-4DFA-AFE0-FA9C0043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SYSTEM FLOW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734054A-1056-43B2-923F-DF0BA193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검색 근거 기반으로 답변을 생성합니다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319E506-AB76-4216-8AA9-EAD5EC6C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43A46"/>
                </a:solidFill>
              </a:defRPr>
            </a:pPr>
            <a:r>
              <a:rPr sz="1875" b="0">
                <a:solidFill>
                  <a:srgbClr val="343A46"/>
                </a:solidFill>
              </a:rPr>
              <a:t>PDF, 센서 CSV, Wiki 문서를 먼저 검색하고 그 결과를 LLM context로 사용합니다.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B575CFB4-4698-4168-96D1-77014351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51ebf9611d415e"/>
          <a:stretch xmlns:a="http://schemas.openxmlformats.org/drawingml/2006/main"/>
        </p:blipFill>
        <p:spPr>
          <a:xfrm xmlns:a="http://schemas.openxmlformats.org/drawingml/2006/main">
            <a:off x="4191000" y="3257550"/>
            <a:ext cx="3810000" cy="2667000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4B78669-D8D3-4C5B-9A3F-2887C464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672"/>
                </a:solidFill>
              </a:defRPr>
            </a:pPr>
            <a:r>
              <a:rPr sz="1200" b="0">
                <a:solidFill>
                  <a:srgbClr val="606672"/>
                </a:solidFill>
              </a:rPr>
              <a:t>OceanClaw Demo Video</a:t>
            </a:r>
          </a:p>
        </p:txBody>
      </p:sp>
    </p:spTree>
    <p:extLst>
      <p:ext uri="{BB962C8B-B14F-4D97-AF65-F5344CB8AC3E}">
        <p14:creationId xmlns:p14="http://schemas.microsoft.com/office/powerpoint/2010/main" val="11921008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A77E89B8-4390-4687-826B-A6470E5E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DEMO 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FB39189-271E-4410-AB9B-F0FDF800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매뉴얼에서 관련 페이지를 검색합니다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F72EFAF-9AC8-482E-891E-5DF5873C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43A46"/>
                </a:solidFill>
              </a:defRPr>
            </a:pPr>
            <a:r>
              <a:rPr sz="1875" b="0">
                <a:solidFill>
                  <a:srgbClr val="343A46"/>
                </a:solidFill>
              </a:rPr>
              <a:t>질문을 embedding하고 FAISS index에서 유사한 manual chunk를 찾습니다.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90DDC460-CF5A-4EF9-B8E1-61BB8310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command-box">
            <a:extLst xmlns:a="http://schemas.openxmlformats.org/drawingml/2006/main">
              <a:ext uri="{FF2B5EF4-FFF2-40B4-BE49-F238E27FC236}">
                <a16:creationId xmlns:a16="http://schemas.microsoft.com/office/drawing/2014/main" id="{6E332BF9-3D59-468C-9873-4FD6448F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1047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command">
            <a:extLst xmlns:a="http://schemas.openxmlformats.org/drawingml/2006/main">
              <a:ext uri="{FF2B5EF4-FFF2-40B4-BE49-F238E27FC236}">
                <a16:creationId xmlns:a16="http://schemas.microsoft.com/office/drawing/2014/main" id="{D382629B-05B1-4E9A-B1D6-CB4A692A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957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python scripts\search.py "engine oil level check dipstick MIN MAX" --top-k 3</a:t>
            </a:r>
          </a:p>
        </p:txBody>
      </p:sp>
      <p:sp>
        <p:nvSpPr>
          <p:cNvPr id="7" name="result-key">
            <a:extLst xmlns:a="http://schemas.openxmlformats.org/drawingml/2006/main">
              <a:ext uri="{FF2B5EF4-FFF2-40B4-BE49-F238E27FC236}">
                <a16:creationId xmlns:a16="http://schemas.microsoft.com/office/drawing/2014/main" id="{0B0B9809-6D38-4330-A51D-01BB6370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확인 포인트: page=69 · Check Oil Level in Engine · dipstick · MIN/MAX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21D21016-302B-4992-A489-12EA9B1E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672"/>
                </a:solidFill>
              </a:defRPr>
            </a:pPr>
            <a:r>
              <a:rPr sz="1200" b="0">
                <a:solidFill>
                  <a:srgbClr val="606672"/>
                </a:solidFill>
              </a:rPr>
              <a:t>OceanClaw Demo Video</a:t>
            </a:r>
          </a:p>
        </p:txBody>
      </p:sp>
    </p:spTree>
    <p:extLst>
      <p:ext uri="{BB962C8B-B14F-4D97-AF65-F5344CB8AC3E}">
        <p14:creationId xmlns:p14="http://schemas.microsoft.com/office/powerpoint/2010/main" val="14118275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DABD428D-631B-4556-A4F0-3D33AA1C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DEMO 2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D2343FA-20A9-479F-B824-7151EE0A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검색된 근거로 한국어 답변을 생성합니다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6CCAE84-1B09-43E0-BC6A-70386EAA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43A46"/>
                </a:solidFill>
              </a:defRPr>
            </a:pPr>
            <a:r>
              <a:rPr sz="1875" b="0">
                <a:solidFill>
                  <a:srgbClr val="343A46"/>
                </a:solidFill>
              </a:rPr>
              <a:t>Ollama LLM은 검색 결과 context를 바탕으로 정비 절차와 출처를 함께 제공합니다.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F9E44126-282C-418C-8D25-B4281596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answer-box">
            <a:extLst xmlns:a="http://schemas.openxmlformats.org/drawingml/2006/main">
              <a:ext uri="{FF2B5EF4-FFF2-40B4-BE49-F238E27FC236}">
                <a16:creationId xmlns:a16="http://schemas.microsoft.com/office/drawing/2014/main" id="{E84233AB-A6D3-4BF7-8942-3ED471F0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10477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answer-sample">
            <a:extLst xmlns:a="http://schemas.openxmlformats.org/drawingml/2006/main">
              <a:ext uri="{FF2B5EF4-FFF2-40B4-BE49-F238E27FC236}">
                <a16:creationId xmlns:a16="http://schemas.microsoft.com/office/drawing/2014/main" id="{A8DCECF4-9267-4EAC-BF3E-41F2F388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24250"/>
            <a:ext cx="98679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질문: 엔진 오일 점검 방법 알려줘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답변: 엔진 정지 및 저온 상태에서 dipstick으로 MIN/MAX 범위를 확인합니다.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출처: yanmar_6lf_operation_manual.pdf p.69</a:t>
            </a:r>
          </a:p>
        </p:txBody>
      </p:sp>
      <p:sp>
        <p:nvSpPr>
          <p:cNvPr id="7" name="caption">
            <a:extLst xmlns:a="http://schemas.openxmlformats.org/drawingml/2006/main">
              <a:ext uri="{FF2B5EF4-FFF2-40B4-BE49-F238E27FC236}">
                <a16:creationId xmlns:a16="http://schemas.microsoft.com/office/drawing/2014/main" id="{7FE2B550-9D30-427B-AFB0-E109884C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핵심 장면은 답변과 출처 페이지가 함께 보이는 화면입니다.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188CD6C9-4232-46D3-B144-B0665B14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672"/>
                </a:solidFill>
              </a:defRPr>
            </a:pPr>
            <a:r>
              <a:rPr sz="1200" b="0">
                <a:solidFill>
                  <a:srgbClr val="606672"/>
                </a:solidFill>
              </a:rPr>
              <a:t>OceanClaw Demo Video</a:t>
            </a:r>
          </a:p>
        </p:txBody>
      </p:sp>
    </p:spTree>
    <p:extLst>
      <p:ext uri="{BB962C8B-B14F-4D97-AF65-F5344CB8AC3E}">
        <p14:creationId xmlns:p14="http://schemas.microsoft.com/office/powerpoint/2010/main" val="5157281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0B614C19-2B7B-41DC-9919-77FE07AD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DEMO 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A06F4D-96D0-498E-9769-547EF7B2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답변 결과를 Wiki logs에 저장합니다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3587112-26EB-43FD-86FD-5EF8E976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43A46"/>
                </a:solidFill>
              </a:defRPr>
            </a:pPr>
            <a:r>
              <a:rPr sz="1875" b="0">
                <a:solidFill>
                  <a:srgbClr val="343A46"/>
                </a:solidFill>
              </a:rPr>
              <a:t>질문, 답변, 출처를 Markdown 파일로 남겨 정비 지식을 축적합니다.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915817B1-BF85-49FD-B600-A8BAD3BC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wiki-panel">
            <a:extLst xmlns:a="http://schemas.openxmlformats.org/drawingml/2006/main">
              <a:ext uri="{FF2B5EF4-FFF2-40B4-BE49-F238E27FC236}">
                <a16:creationId xmlns:a16="http://schemas.microsoft.com/office/drawing/2014/main" id="{F98265D1-D24A-468D-9AE8-CF93C1C8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4953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wiki-tree">
            <a:extLst xmlns:a="http://schemas.openxmlformats.org/drawingml/2006/main">
              <a:ext uri="{FF2B5EF4-FFF2-40B4-BE49-F238E27FC236}">
                <a16:creationId xmlns:a16="http://schemas.microsoft.com/office/drawing/2014/main" id="{A4377212-BA26-4D93-BCA1-CD2D82F8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8550"/>
            <a:ext cx="438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wiki/</a:t>
            </a:r>
          </a:p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  logs/</a:t>
            </a:r>
          </a:p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    2026-xx-xx_엔진_오일_점검.md</a:t>
            </a:r>
          </a:p>
        </p:txBody>
      </p:sp>
      <p:sp>
        <p:nvSpPr>
          <p:cNvPr id="7" name="md-panel">
            <a:extLst xmlns:a="http://schemas.openxmlformats.org/drawingml/2006/main">
              <a:ext uri="{FF2B5EF4-FFF2-40B4-BE49-F238E27FC236}">
                <a16:creationId xmlns:a16="http://schemas.microsoft.com/office/drawing/2014/main" id="{72A66DEE-6EF1-4DF7-BB2D-B266C8C2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5143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md-body">
            <a:extLst xmlns:a="http://schemas.openxmlformats.org/drawingml/2006/main">
              <a:ext uri="{FF2B5EF4-FFF2-40B4-BE49-F238E27FC236}">
                <a16:creationId xmlns:a16="http://schemas.microsoft.com/office/drawing/2014/main" id="{1FBBFD1E-2E95-45C4-8EA9-C2C2EC5B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62350"/>
            <a:ext cx="45339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# 질문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엔진 오일 점검 방법 알려줘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# 답변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# 출처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manual.pdf p.69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00C76919-8C08-4CAA-B489-C008440B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672"/>
                </a:solidFill>
              </a:defRPr>
            </a:pPr>
            <a:r>
              <a:rPr sz="1200" b="0">
                <a:solidFill>
                  <a:srgbClr val="606672"/>
                </a:solidFill>
              </a:rPr>
              <a:t>OceanClaw Demo Video</a:t>
            </a:r>
          </a:p>
        </p:txBody>
      </p:sp>
    </p:spTree>
    <p:extLst>
      <p:ext uri="{BB962C8B-B14F-4D97-AF65-F5344CB8AC3E}">
        <p14:creationId xmlns:p14="http://schemas.microsoft.com/office/powerpoint/2010/main" val="7408887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AAB84911-D3B7-4371-BDA7-036C6AD6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SERVICE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64B0836-67F5-4557-AA4D-CCF9ABB4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FastAPI 서버로 기능을 제공합니다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A2B95B6-5501-48AE-A955-6133E0A0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43A46"/>
                </a:solidFill>
              </a:defRPr>
            </a:pPr>
            <a:r>
              <a:rPr sz="1875" b="0">
                <a:solidFill>
                  <a:srgbClr val="343A46"/>
                </a:solidFill>
              </a:rPr>
              <a:t>CLI뿐 아니라 API endpoint로 검색과 답변 기능을 사용할 수 있습니다.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2AB17B7A-DD9F-40E8-9DA1-B7FFCBA7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ep-0">
            <a:extLst xmlns:a="http://schemas.openxmlformats.org/drawingml/2006/main">
              <a:ext uri="{FF2B5EF4-FFF2-40B4-BE49-F238E27FC236}">
                <a16:creationId xmlns:a16="http://schemas.microsoft.com/office/drawing/2014/main" id="{D8F7B38F-CBA9-4CB3-AE8A-6DDA7921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ep-text-0">
            <a:extLst xmlns:a="http://schemas.openxmlformats.org/drawingml/2006/main">
              <a:ext uri="{FF2B5EF4-FFF2-40B4-BE49-F238E27FC236}">
                <a16:creationId xmlns:a16="http://schemas.microsoft.com/office/drawing/2014/main" id="{153276D6-E54A-46A3-944B-7D8D19AC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480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/health</a:t>
            </a:r>
          </a:p>
        </p:txBody>
      </p:sp>
      <p:sp>
        <p:nvSpPr>
          <p:cNvPr id="7" name="ep-1">
            <a:extLst xmlns:a="http://schemas.openxmlformats.org/drawingml/2006/main">
              <a:ext uri="{FF2B5EF4-FFF2-40B4-BE49-F238E27FC236}">
                <a16:creationId xmlns:a16="http://schemas.microsoft.com/office/drawing/2014/main" id="{F143439D-26B6-47D5-9DCC-81125696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ep-text-1">
            <a:extLst xmlns:a="http://schemas.openxmlformats.org/drawingml/2006/main">
              <a:ext uri="{FF2B5EF4-FFF2-40B4-BE49-F238E27FC236}">
                <a16:creationId xmlns:a16="http://schemas.microsoft.com/office/drawing/2014/main" id="{E328F632-9F02-4A2D-B921-5CA95580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480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/ask</a:t>
            </a:r>
          </a:p>
        </p:txBody>
      </p:sp>
      <p:sp>
        <p:nvSpPr>
          <p:cNvPr id="9" name="ep-2">
            <a:extLst xmlns:a="http://schemas.openxmlformats.org/drawingml/2006/main">
              <a:ext uri="{FF2B5EF4-FFF2-40B4-BE49-F238E27FC236}">
                <a16:creationId xmlns:a16="http://schemas.microsoft.com/office/drawing/2014/main" id="{79716558-9090-4A7A-8452-7D83E57A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3860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ep-text-2">
            <a:extLst xmlns:a="http://schemas.openxmlformats.org/drawingml/2006/main">
              <a:ext uri="{FF2B5EF4-FFF2-40B4-BE49-F238E27FC236}">
                <a16:creationId xmlns:a16="http://schemas.microsoft.com/office/drawing/2014/main" id="{07B08225-2D72-4F71-AF92-83798C44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5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/search/manual</a:t>
            </a:r>
          </a:p>
        </p:txBody>
      </p:sp>
      <p:sp>
        <p:nvSpPr>
          <p:cNvPr id="11" name="ep-3">
            <a:extLst xmlns:a="http://schemas.openxmlformats.org/drawingml/2006/main">
              <a:ext uri="{FF2B5EF4-FFF2-40B4-BE49-F238E27FC236}">
                <a16:creationId xmlns:a16="http://schemas.microsoft.com/office/drawing/2014/main" id="{CBAB039F-90DC-4E2E-B4C8-92A0F336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ep-text-3">
            <a:extLst xmlns:a="http://schemas.openxmlformats.org/drawingml/2006/main">
              <a:ext uri="{FF2B5EF4-FFF2-40B4-BE49-F238E27FC236}">
                <a16:creationId xmlns:a16="http://schemas.microsoft.com/office/drawing/2014/main" id="{11618A84-F607-4963-804F-1CA113D1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5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/search/sensor</a:t>
            </a:r>
          </a:p>
        </p:txBody>
      </p:sp>
      <p:sp>
        <p:nvSpPr>
          <p:cNvPr id="13" name="ep-4">
            <a:extLst xmlns:a="http://schemas.openxmlformats.org/drawingml/2006/main">
              <a:ext uri="{FF2B5EF4-FFF2-40B4-BE49-F238E27FC236}">
                <a16:creationId xmlns:a16="http://schemas.microsoft.com/office/drawing/2014/main" id="{1AF8B2F8-7E8E-4C4F-B6D7-EC3713CB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ep-text-4">
            <a:extLst xmlns:a="http://schemas.openxmlformats.org/drawingml/2006/main">
              <a:ext uri="{FF2B5EF4-FFF2-40B4-BE49-F238E27FC236}">
                <a16:creationId xmlns:a16="http://schemas.microsoft.com/office/drawing/2014/main" id="{D68F2C3D-AE61-4C49-87C2-342BEAA6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57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/search/wiki</a:t>
            </a:r>
          </a:p>
        </p:txBody>
      </p:sp>
      <p:sp>
        <p:nvSpPr>
          <p:cNvPr id="15" name="ep-5">
            <a:extLst xmlns:a="http://schemas.openxmlformats.org/drawingml/2006/main">
              <a:ext uri="{FF2B5EF4-FFF2-40B4-BE49-F238E27FC236}">
                <a16:creationId xmlns:a16="http://schemas.microsoft.com/office/drawing/2014/main" id="{2284C988-475E-4C38-BF92-012970A6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4345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ep-text-5">
            <a:extLst xmlns:a="http://schemas.openxmlformats.org/drawingml/2006/main">
              <a:ext uri="{FF2B5EF4-FFF2-40B4-BE49-F238E27FC236}">
                <a16:creationId xmlns:a16="http://schemas.microsoft.com/office/drawing/2014/main" id="{AE93E666-5082-4C35-95CA-C3246C86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57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/mattermost/slash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F5213F34-2A4E-402B-A40D-1BD45DCB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672"/>
                </a:solidFill>
              </a:defRPr>
            </a:pPr>
            <a:r>
              <a:rPr sz="1200" b="0">
                <a:solidFill>
                  <a:srgbClr val="606672"/>
                </a:solidFill>
              </a:rPr>
              <a:t>OceanClaw Demo Video</a:t>
            </a:r>
          </a:p>
        </p:txBody>
      </p:sp>
    </p:spTree>
    <p:extLst>
      <p:ext uri="{BB962C8B-B14F-4D97-AF65-F5344CB8AC3E}">
        <p14:creationId xmlns:p14="http://schemas.microsoft.com/office/powerpoint/2010/main" val="17944623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2E7E72D4-1C5A-445F-91A0-028EA0D9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EDGE AI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0F60845-E437-4ED2-93D5-8B272D00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Jetson 기반 로컬 정비 AI로 확장합니다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D562B1D-4534-429F-AC8C-A9B1C29D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43A46"/>
                </a:solidFill>
              </a:defRPr>
            </a:pPr>
            <a:r>
              <a:rPr sz="1875" b="0">
                <a:solidFill>
                  <a:srgbClr val="343A46"/>
                </a:solidFill>
              </a:rPr>
              <a:t>인터넷 의존도를 낮추고 선박 내부망 또는 실습 환경에서 운용할 수 있는 구조입니다.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38D5BCA3-4959-44E8-957F-637DBBF1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d91a78c5e46d2"/>
          <a:stretch xmlns:a="http://schemas.openxmlformats.org/drawingml/2006/main"/>
        </p:blipFill>
        <p:spPr>
          <a:xfrm xmlns:a="http://schemas.openxmlformats.org/drawingml/2006/main">
            <a:off x="3688292" y="3314700"/>
            <a:ext cx="4815417" cy="1733550"/>
          </a:xfrm>
          <a:prstGeom xmlns:a="http://schemas.openxmlformats.org/drawingml/2006/main" prst="rect">
            <a:avLst/>
          </a:prstGeom>
        </p:spPr>
      </p:pic>
      <p:sp>
        <p:nvSpPr>
          <p:cNvPr id="6" name="bottom">
            <a:extLst xmlns:a="http://schemas.openxmlformats.org/drawingml/2006/main">
              <a:ext uri="{FF2B5EF4-FFF2-40B4-BE49-F238E27FC236}">
                <a16:creationId xmlns:a16="http://schemas.microsoft.com/office/drawing/2014/main" id="{90A96D6E-922A-4735-A3CF-E193611C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향후 실제 온도·압력·진동 센서와 공공데이터 API 연계를 통해 예방정비 기능으로 확장할 수 있습니다.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6C916EB8-98A7-4FB5-B384-997245D3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672"/>
                </a:solidFill>
              </a:defRPr>
            </a:pPr>
            <a:r>
              <a:rPr sz="1200" b="0">
                <a:solidFill>
                  <a:srgbClr val="606672"/>
                </a:solidFill>
              </a:rPr>
              <a:t>OceanClaw Demo Video</a:t>
            </a:r>
          </a:p>
        </p:txBody>
      </p:sp>
    </p:spTree>
    <p:extLst>
      <p:ext uri="{BB962C8B-B14F-4D97-AF65-F5344CB8AC3E}">
        <p14:creationId xmlns:p14="http://schemas.microsoft.com/office/powerpoint/2010/main" val="2504459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6DBE22BA-6A4C-45ED-ABF2-B708DD71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OceanClaw</a:t>
            </a:r>
          </a:p>
        </p:txBody>
      </p:sp>
      <p:sp>
        <p:nvSpPr>
          <p:cNvPr id="2" name="closing-message">
            <a:extLst xmlns:a="http://schemas.openxmlformats.org/drawingml/2006/main">
              <a:ext uri="{FF2B5EF4-FFF2-40B4-BE49-F238E27FC236}">
                <a16:creationId xmlns:a16="http://schemas.microsoft.com/office/drawing/2014/main" id="{206484BF-CD92-46FC-AA45-64741738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검색 가능한 정비 자료와 로컬 LLM을 연결해</a:t>
            </a:r>
          </a:p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근거가 남는 선박 정비 AI Agent를 구현했습니다.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7B19C7C-5648-47F6-B415-1C364526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closing-small">
            <a:extLst xmlns:a="http://schemas.openxmlformats.org/drawingml/2006/main">
              <a:ext uri="{FF2B5EF4-FFF2-40B4-BE49-F238E27FC236}">
                <a16:creationId xmlns:a16="http://schemas.microsoft.com/office/drawing/2014/main" id="{7280BB3C-4EAA-49FE-A803-7F8967D9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43A46"/>
                </a:solidFill>
              </a:defRPr>
            </a:pPr>
            <a:r>
              <a:rPr sz="1800" b="0">
                <a:solidFill>
                  <a:srgbClr val="343A46"/>
                </a:solidFill>
              </a:rPr>
              <a:t>Manual RAG · Sensor Search · Wiki Logs · FastAPI · Jetson Ready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B8E3FA0-7DEC-4A4F-8923-0279307D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672"/>
                </a:solidFill>
              </a:defRPr>
            </a:pPr>
            <a:r>
              <a:rPr sz="1200" b="0">
                <a:solidFill>
                  <a:srgbClr val="606672"/>
                </a:solidFill>
              </a:rPr>
              <a:t>Demo complete</a:t>
            </a:r>
          </a:p>
        </p:txBody>
      </p:sp>
    </p:spTree>
    <p:extLst>
      <p:ext uri="{BB962C8B-B14F-4D97-AF65-F5344CB8AC3E}">
        <p14:creationId xmlns:p14="http://schemas.microsoft.com/office/powerpoint/2010/main" val="12172662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597BDDF4-A032-413D-B357-71FF53F4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CAPCUT GUIDE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BF4DA94-F111-4BD9-BEF7-11051A9C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이 순서대로 붙이면 2분 시연 영상이 됩니다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8579672-1532-4E12-BFFC-585E74B3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43A46"/>
                </a:solidFill>
              </a:defRPr>
            </a:pPr>
            <a:r>
              <a:rPr sz="1875" b="0">
                <a:solidFill>
                  <a:srgbClr val="343A46"/>
                </a:solidFill>
              </a:rPr>
              <a:t>마지막 슬라이드는 제출 영상에 넣지 않아도 되는 편집용 체크리스트입니다.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C5A50025-CFF6-44BC-8FB3-B2C03F22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check-0">
            <a:extLst xmlns:a="http://schemas.openxmlformats.org/drawingml/2006/main">
              <a:ext uri="{FF2B5EF4-FFF2-40B4-BE49-F238E27FC236}">
                <a16:creationId xmlns:a16="http://schemas.microsoft.com/office/drawing/2014/main" id="{0C3A01BC-CD1C-498E-9321-FCB244DD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1. 제목 화면 5초</a:t>
            </a:r>
          </a:p>
        </p:txBody>
      </p:sp>
      <p:sp>
        <p:nvSpPr>
          <p:cNvPr id="6" name="check-1">
            <a:extLst xmlns:a="http://schemas.openxmlformats.org/drawingml/2006/main">
              <a:ext uri="{FF2B5EF4-FFF2-40B4-BE49-F238E27FC236}">
                <a16:creationId xmlns:a16="http://schemas.microsoft.com/office/drawing/2014/main" id="{828C613D-C747-4A66-8BE3-142997A1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576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2. 구조도 10초</a:t>
            </a:r>
          </a:p>
        </p:txBody>
      </p:sp>
      <p:sp>
        <p:nvSpPr>
          <p:cNvPr id="7" name="check-2">
            <a:extLst xmlns:a="http://schemas.openxmlformats.org/drawingml/2006/main">
              <a:ext uri="{FF2B5EF4-FFF2-40B4-BE49-F238E27FC236}">
                <a16:creationId xmlns:a16="http://schemas.microsoft.com/office/drawing/2014/main" id="{CBDA22F8-AF9B-4FF3-9455-C41944F4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3. search.py 실제 실행 화면 25초</a:t>
            </a:r>
          </a:p>
        </p:txBody>
      </p:sp>
      <p:sp>
        <p:nvSpPr>
          <p:cNvPr id="8" name="check-3">
            <a:extLst xmlns:a="http://schemas.openxmlformats.org/drawingml/2006/main">
              <a:ext uri="{FF2B5EF4-FFF2-40B4-BE49-F238E27FC236}">
                <a16:creationId xmlns:a16="http://schemas.microsoft.com/office/drawing/2014/main" id="{EA4E915F-4873-4206-AE8D-7817CA39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4. ask.py 답변 + sources 화면 35초</a:t>
            </a:r>
          </a:p>
        </p:txBody>
      </p:sp>
      <p:sp>
        <p:nvSpPr>
          <p:cNvPr id="9" name="check-4">
            <a:extLst xmlns:a="http://schemas.openxmlformats.org/drawingml/2006/main">
              <a:ext uri="{FF2B5EF4-FFF2-40B4-BE49-F238E27FC236}">
                <a16:creationId xmlns:a16="http://schemas.microsoft.com/office/drawing/2014/main" id="{6C776262-E097-4B97-ADBF-32D5C200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5. wiki/logs Markdown 저장 화면 15초</a:t>
            </a:r>
          </a:p>
        </p:txBody>
      </p:sp>
      <p:sp>
        <p:nvSpPr>
          <p:cNvPr id="10" name="check-5">
            <a:extLst xmlns:a="http://schemas.openxmlformats.org/drawingml/2006/main">
              <a:ext uri="{FF2B5EF4-FFF2-40B4-BE49-F238E27FC236}">
                <a16:creationId xmlns:a16="http://schemas.microsoft.com/office/drawing/2014/main" id="{8A570442-133F-4EAB-B76E-C33CF24A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57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6. FastAPI /docs 화면 15초</a:t>
            </a:r>
          </a:p>
        </p:txBody>
      </p:sp>
      <p:sp>
        <p:nvSpPr>
          <p:cNvPr id="11" name="check-6">
            <a:extLst xmlns:a="http://schemas.openxmlformats.org/drawingml/2006/main">
              <a:ext uri="{FF2B5EF4-FFF2-40B4-BE49-F238E27FC236}">
                <a16:creationId xmlns:a16="http://schemas.microsoft.com/office/drawing/2014/main" id="{4E9C8EFA-0754-452C-B054-819A18C2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578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7. Jetson 또는 확장 카드 10초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D3452998-6D07-4672-91F6-36FA89C3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672"/>
                </a:solidFill>
              </a:defRPr>
            </a:pPr>
            <a:r>
              <a:rPr sz="1200" b="0">
                <a:solidFill>
                  <a:srgbClr val="606672"/>
                </a:solidFill>
              </a:rPr>
              <a:t>편집용 슬라이드</a:t>
            </a:r>
          </a:p>
        </p:txBody>
      </p:sp>
    </p:spTree>
    <p:extLst>
      <p:ext uri="{BB962C8B-B14F-4D97-AF65-F5344CB8AC3E}">
        <p14:creationId xmlns:p14="http://schemas.microsoft.com/office/powerpoint/2010/main" val="9147988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2026-08-24T08:14:17.2970000Z</dcterms:created>
  <dcterms:modified xsi:type="dcterms:W3CDTF">2026-08-24T08:14:17.2970000Z</dcterms:modified>
</coreProperties>
</file>